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3"/>
  </p:notesMasterIdLst>
  <p:handoutMasterIdLst>
    <p:handoutMasterId r:id="rId24"/>
  </p:handoutMasterIdLst>
  <p:sldIdLst>
    <p:sldId id="256" r:id="rId5"/>
    <p:sldId id="275" r:id="rId6"/>
    <p:sldId id="270" r:id="rId7"/>
    <p:sldId id="261" r:id="rId8"/>
    <p:sldId id="273" r:id="rId9"/>
    <p:sldId id="258" r:id="rId10"/>
    <p:sldId id="265" r:id="rId11"/>
    <p:sldId id="263" r:id="rId12"/>
    <p:sldId id="266" r:id="rId13"/>
    <p:sldId id="271" r:id="rId14"/>
    <p:sldId id="272" r:id="rId15"/>
    <p:sldId id="264" r:id="rId16"/>
    <p:sldId id="267" r:id="rId17"/>
    <p:sldId id="274" r:id="rId18"/>
    <p:sldId id="268" r:id="rId19"/>
    <p:sldId id="260" r:id="rId20"/>
    <p:sldId id="269" r:id="rId21"/>
    <p:sldId id="26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29-Dec-25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29-Dec-25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3649437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9AB63-67C2-BE9C-2F02-259006BDC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965FA-3301-BF65-20D9-728A0F139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3FCC2-BD0A-E510-F786-894E949DC1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10C135-55E9-6082-0C89-C1B2DCD4378E}"/>
              </a:ext>
            </a:extLst>
          </p:cNvPr>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253410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future features can involve offline use of features and being able to run on low performance devices and integration into devices specifically for visually challenged like the ray bans by meta</a:t>
            </a:r>
          </a:p>
        </p:txBody>
      </p:sp>
      <p:sp>
        <p:nvSpPr>
          <p:cNvPr id="4" name="Slide Number Placeholder 3"/>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1965658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16</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29-Dec-25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29-Dec-25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29-Dec-25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29-Dec-25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29-Dec-25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29-Dec-25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29-Dec-25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29-Dec-25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29-Dec-25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29-Dec-25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29-Dec-25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29-Dec-25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alphaModFix amt="50000"/>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br>
              <a:rPr lang="en-US" sz="6000" dirty="0">
                <a:solidFill>
                  <a:schemeClr val="bg1"/>
                </a:solidFill>
              </a:rPr>
            </a:br>
            <a:r>
              <a:rPr lang="en-US" sz="6000" dirty="0">
                <a:solidFill>
                  <a:schemeClr val="bg1"/>
                </a:solidFill>
              </a:rPr>
              <a:t>Lumio</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7808715" cy="717244"/>
          </a:xfrm>
        </p:spPr>
        <p:txBody>
          <a:bodyPr>
            <a:normAutofit/>
          </a:bodyPr>
          <a:lstStyle/>
          <a:p>
            <a:r>
              <a:rPr lang="en-US" dirty="0">
                <a:solidFill>
                  <a:srgbClr val="7CEBFF"/>
                </a:solidFill>
              </a:rPr>
              <a:t>Problem Statement: A Personal Reading Machine for Visually Impaired </a:t>
            </a:r>
          </a:p>
          <a:p>
            <a:r>
              <a:rPr lang="en-US" sz="1200" dirty="0">
                <a:solidFill>
                  <a:srgbClr val="7CEBFF"/>
                </a:solidFill>
              </a:rPr>
              <a:t>~Sai Parate</a:t>
            </a:r>
          </a:p>
        </p:txBody>
      </p:sp>
      <p:pic>
        <p:nvPicPr>
          <p:cNvPr id="5" name="Graphic 4">
            <a:extLst>
              <a:ext uri="{FF2B5EF4-FFF2-40B4-BE49-F238E27FC236}">
                <a16:creationId xmlns:a16="http://schemas.microsoft.com/office/drawing/2014/main" id="{1A3FC6A5-AE28-FB3A-34B6-10090C02215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24568" y="4040078"/>
            <a:ext cx="2738478" cy="2738474"/>
          </a:xfrm>
          <a:prstGeom prst="rect">
            <a:avLst/>
          </a:prstGeom>
        </p:spPr>
      </p:pic>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3C313-7BE0-375D-2B72-5C63EB734BED}"/>
              </a:ext>
            </a:extLst>
          </p:cNvPr>
          <p:cNvSpPr>
            <a:spLocks noGrp="1"/>
          </p:cNvSpPr>
          <p:nvPr>
            <p:ph type="title"/>
          </p:nvPr>
        </p:nvSpPr>
        <p:spPr/>
        <p:txBody>
          <a:bodyPr/>
          <a:lstStyle/>
          <a:p>
            <a:r>
              <a:rPr lang="en-US" dirty="0"/>
              <a:t>Objective of Lumio</a:t>
            </a:r>
          </a:p>
        </p:txBody>
      </p:sp>
      <p:sp>
        <p:nvSpPr>
          <p:cNvPr id="3" name="Content Placeholder 2">
            <a:extLst>
              <a:ext uri="{FF2B5EF4-FFF2-40B4-BE49-F238E27FC236}">
                <a16:creationId xmlns:a16="http://schemas.microsoft.com/office/drawing/2014/main" id="{6A9E8A7B-2A8A-1DAE-1A8B-600C3537F182}"/>
              </a:ext>
            </a:extLst>
          </p:cNvPr>
          <p:cNvSpPr>
            <a:spLocks noGrp="1"/>
          </p:cNvSpPr>
          <p:nvPr>
            <p:ph idx="1"/>
          </p:nvPr>
        </p:nvSpPr>
        <p:spPr>
          <a:xfrm>
            <a:off x="581192" y="1715956"/>
            <a:ext cx="11029615" cy="5142044"/>
          </a:xfrm>
        </p:spPr>
        <p:txBody>
          <a:bodyPr>
            <a:normAutofit/>
          </a:bodyPr>
          <a:lstStyle/>
          <a:p>
            <a:r>
              <a:rPr lang="en-US" dirty="0"/>
              <a:t>Primary Objective</a:t>
            </a:r>
          </a:p>
          <a:p>
            <a:pPr lvl="1"/>
            <a:r>
              <a:rPr lang="en-US" dirty="0"/>
              <a:t>Empower Independence: To function as a comprehensive "digital eye" that translates the visual world—including text, objects, scenes, and people—into real-time audio feedback for the visually impaired.</a:t>
            </a:r>
          </a:p>
          <a:p>
            <a:pPr lvl="1"/>
            <a:r>
              <a:rPr lang="en-US" dirty="0"/>
              <a:t>Intuitive Accessibility: To provide a completely non-visual, gesture-based interface that allows users to navigate complex environments and access information without needing to look at a screen.</a:t>
            </a:r>
          </a:p>
          <a:p>
            <a:r>
              <a:rPr lang="en-US" dirty="0"/>
              <a:t>Technical Objective</a:t>
            </a:r>
          </a:p>
          <a:p>
            <a:pPr lvl="1"/>
            <a:r>
              <a:rPr lang="en-IN" dirty="0"/>
              <a:t>Hybrid On-Device AI: To implement a low-latency, offline-capable architecture that combines Google ML Kit (for text/scenes) and </a:t>
            </a:r>
            <a:r>
              <a:rPr lang="en-IN" dirty="0" err="1"/>
              <a:t>MediaPipe</a:t>
            </a:r>
            <a:r>
              <a:rPr lang="en-IN" dirty="0"/>
              <a:t> (for objects/gestures) to process video feeds instantly without internet dependency.</a:t>
            </a:r>
          </a:p>
          <a:p>
            <a:pPr lvl="1"/>
            <a:r>
              <a:rPr lang="en-IN" dirty="0"/>
              <a:t>Wearable Scalability: To engineer a flexible system that seamlessly transitions between standard handheld smartphone usage and hands-free operation via external USB camera integration (smart goggles).</a:t>
            </a:r>
          </a:p>
          <a:p>
            <a:r>
              <a:rPr lang="en-US" dirty="0"/>
              <a:t>Social Objective</a:t>
            </a:r>
          </a:p>
          <a:p>
            <a:pPr lvl="1"/>
            <a:r>
              <a:rPr lang="en-US" dirty="0"/>
              <a:t>Democratizing Assistive Tech: To offer a cost-effective, software-based alternative to expensive proprietary hardware (like OrCam), making advanced vision assistance accessible to anyone with a smartphone.</a:t>
            </a:r>
          </a:p>
          <a:p>
            <a:pPr lvl="1"/>
            <a:r>
              <a:rPr lang="en-US" dirty="0"/>
              <a:t>Enhancing Social Inclusion: To reduce the isolation of visually impaired individuals by giving them the tools to independently recognize friends, read private documents, and interact with their surroundings with confidence.</a:t>
            </a:r>
            <a:endParaRPr lang="en-US" dirty="0">
              <a:effectLst/>
            </a:endParaRPr>
          </a:p>
        </p:txBody>
      </p:sp>
    </p:spTree>
    <p:extLst>
      <p:ext uri="{BB962C8B-B14F-4D97-AF65-F5344CB8AC3E}">
        <p14:creationId xmlns:p14="http://schemas.microsoft.com/office/powerpoint/2010/main" val="600260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D21D7-A684-CB41-9F3A-F45CF649B6A9}"/>
              </a:ext>
            </a:extLst>
          </p:cNvPr>
          <p:cNvSpPr>
            <a:spLocks noGrp="1"/>
          </p:cNvSpPr>
          <p:nvPr>
            <p:ph type="title"/>
          </p:nvPr>
        </p:nvSpPr>
        <p:spPr/>
        <p:txBody>
          <a:bodyPr/>
          <a:lstStyle/>
          <a:p>
            <a:r>
              <a:rPr lang="en-US" dirty="0"/>
              <a:t>What is Lumio</a:t>
            </a:r>
          </a:p>
        </p:txBody>
      </p:sp>
      <p:sp>
        <p:nvSpPr>
          <p:cNvPr id="3" name="Content Placeholder 2">
            <a:extLst>
              <a:ext uri="{FF2B5EF4-FFF2-40B4-BE49-F238E27FC236}">
                <a16:creationId xmlns:a16="http://schemas.microsoft.com/office/drawing/2014/main" id="{8D4F0F01-7497-2FCB-3887-5827ACB89B5E}"/>
              </a:ext>
            </a:extLst>
          </p:cNvPr>
          <p:cNvSpPr>
            <a:spLocks noGrp="1"/>
          </p:cNvSpPr>
          <p:nvPr>
            <p:ph idx="1"/>
          </p:nvPr>
        </p:nvSpPr>
        <p:spPr>
          <a:xfrm>
            <a:off x="581192" y="1866123"/>
            <a:ext cx="11029615" cy="4307050"/>
          </a:xfrm>
        </p:spPr>
        <p:txBody>
          <a:bodyPr>
            <a:normAutofit/>
          </a:bodyPr>
          <a:lstStyle/>
          <a:p>
            <a:r>
              <a:rPr lang="en-US" sz="2400" dirty="0"/>
              <a:t>Lumio is an intelligent Android application designed to serve as a "digital eye" for blind and visually impaired individuals. It uses advanced on-device Machine Learning to instantly translate the visual world into audible descriptions.</a:t>
            </a:r>
          </a:p>
          <a:p>
            <a:r>
              <a:rPr lang="en-US" sz="2400" dirty="0"/>
              <a:t>Key Capabilities:</a:t>
            </a:r>
          </a:p>
          <a:p>
            <a:pPr lvl="1"/>
            <a:r>
              <a:rPr lang="en-US" sz="2000" dirty="0"/>
              <a:t>Real-Time Perception: Analyzes live video feeds to detect text, objects, and people instantly.</a:t>
            </a:r>
          </a:p>
          <a:p>
            <a:pPr lvl="1"/>
            <a:r>
              <a:rPr lang="en-US" sz="2000" dirty="0"/>
              <a:t>Gesture-Controlled Interface: Designed for accessibility, allowing users to trigger specific AI modes using simple screen taps and swipes.</a:t>
            </a:r>
          </a:p>
          <a:p>
            <a:pPr lvl="1"/>
            <a:r>
              <a:rPr lang="en-US" sz="2000" dirty="0"/>
              <a:t>Wearable Ready: Functions as a handheld phone app or a wearable device via external USB camera support.</a:t>
            </a:r>
          </a:p>
          <a:p>
            <a:endParaRPr lang="en-US" sz="2400" dirty="0"/>
          </a:p>
        </p:txBody>
      </p:sp>
    </p:spTree>
    <p:extLst>
      <p:ext uri="{BB962C8B-B14F-4D97-AF65-F5344CB8AC3E}">
        <p14:creationId xmlns:p14="http://schemas.microsoft.com/office/powerpoint/2010/main" val="1188158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Proposed Functions</a:t>
            </a:r>
          </a:p>
        </p:txBody>
      </p:sp>
      <p:pic>
        <p:nvPicPr>
          <p:cNvPr id="14" name="Graphic 13">
            <a:extLst>
              <a:ext uri="{FF2B5EF4-FFF2-40B4-BE49-F238E27FC236}">
                <a16:creationId xmlns:a16="http://schemas.microsoft.com/office/drawing/2014/main" id="{AC65581E-A4BE-9FD1-0119-C4E8D1C953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5197" y="1792584"/>
            <a:ext cx="2425546" cy="1758982"/>
          </a:xfrm>
          <a:prstGeom prst="rect">
            <a:avLst/>
          </a:prstGeom>
        </p:spPr>
      </p:pic>
      <p:pic>
        <p:nvPicPr>
          <p:cNvPr id="15" name="Graphic 14">
            <a:extLst>
              <a:ext uri="{FF2B5EF4-FFF2-40B4-BE49-F238E27FC236}">
                <a16:creationId xmlns:a16="http://schemas.microsoft.com/office/drawing/2014/main" id="{2951E6C1-5C3B-BB70-7875-CFD46C642E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24815" y="1838632"/>
            <a:ext cx="2245680" cy="1608212"/>
          </a:xfrm>
          <a:prstGeom prst="rect">
            <a:avLst/>
          </a:prstGeom>
        </p:spPr>
      </p:pic>
      <p:pic>
        <p:nvPicPr>
          <p:cNvPr id="16" name="Graphic 15">
            <a:extLst>
              <a:ext uri="{FF2B5EF4-FFF2-40B4-BE49-F238E27FC236}">
                <a16:creationId xmlns:a16="http://schemas.microsoft.com/office/drawing/2014/main" id="{A01A3DCD-194B-5307-9D2F-B3A708D93A4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98389" y="1748153"/>
            <a:ext cx="1530990" cy="1904460"/>
          </a:xfrm>
          <a:prstGeom prst="rect">
            <a:avLst/>
          </a:prstGeom>
        </p:spPr>
      </p:pic>
      <p:pic>
        <p:nvPicPr>
          <p:cNvPr id="17" name="Graphic 16">
            <a:extLst>
              <a:ext uri="{FF2B5EF4-FFF2-40B4-BE49-F238E27FC236}">
                <a16:creationId xmlns:a16="http://schemas.microsoft.com/office/drawing/2014/main" id="{3DAB87A4-3CB3-DBBE-91DF-45BAB38F25B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45318" y="1780469"/>
            <a:ext cx="1610856" cy="1798656"/>
          </a:xfrm>
          <a:prstGeom prst="rect">
            <a:avLst/>
          </a:prstGeom>
        </p:spPr>
      </p:pic>
      <p:sp>
        <p:nvSpPr>
          <p:cNvPr id="18" name="TextBox 17">
            <a:extLst>
              <a:ext uri="{FF2B5EF4-FFF2-40B4-BE49-F238E27FC236}">
                <a16:creationId xmlns:a16="http://schemas.microsoft.com/office/drawing/2014/main" id="{2371AC5F-BC36-2DFA-B9C5-08314638CF21}"/>
              </a:ext>
            </a:extLst>
          </p:cNvPr>
          <p:cNvSpPr txBox="1"/>
          <p:nvPr/>
        </p:nvSpPr>
        <p:spPr>
          <a:xfrm>
            <a:off x="639097" y="3814917"/>
            <a:ext cx="10609007" cy="707886"/>
          </a:xfrm>
          <a:prstGeom prst="rect">
            <a:avLst/>
          </a:prstGeom>
          <a:noFill/>
        </p:spPr>
        <p:txBody>
          <a:bodyPr wrap="square" rtlCol="0">
            <a:spAutoFit/>
          </a:bodyPr>
          <a:lstStyle/>
          <a:p>
            <a:r>
              <a:rPr lang="en-US" sz="2000" dirty="0"/>
              <a:t>      Read Text Aloud		Scene Describer			     Person Identifier		Object Identifier			</a:t>
            </a:r>
          </a:p>
        </p:txBody>
      </p:sp>
    </p:spTree>
    <p:extLst>
      <p:ext uri="{BB962C8B-B14F-4D97-AF65-F5344CB8AC3E}">
        <p14:creationId xmlns:p14="http://schemas.microsoft.com/office/powerpoint/2010/main" val="1703342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D8F8D-C5D8-D889-247D-59B46E292A1E}"/>
              </a:ext>
            </a:extLst>
          </p:cNvPr>
          <p:cNvSpPr>
            <a:spLocks noGrp="1"/>
          </p:cNvSpPr>
          <p:nvPr>
            <p:ph type="title"/>
          </p:nvPr>
        </p:nvSpPr>
        <p:spPr/>
        <p:txBody>
          <a:bodyPr/>
          <a:lstStyle/>
          <a:p>
            <a:r>
              <a:rPr lang="en-IN" dirty="0"/>
              <a:t>The 4 Pillars of Lumio:</a:t>
            </a:r>
            <a:endParaRPr lang="en-US" dirty="0"/>
          </a:p>
        </p:txBody>
      </p:sp>
      <p:sp>
        <p:nvSpPr>
          <p:cNvPr id="3" name="Content Placeholder 2">
            <a:extLst>
              <a:ext uri="{FF2B5EF4-FFF2-40B4-BE49-F238E27FC236}">
                <a16:creationId xmlns:a16="http://schemas.microsoft.com/office/drawing/2014/main" id="{EBA1E961-CB00-4814-46ED-6155C69B6504}"/>
              </a:ext>
            </a:extLst>
          </p:cNvPr>
          <p:cNvSpPr>
            <a:spLocks noGrp="1"/>
          </p:cNvSpPr>
          <p:nvPr>
            <p:ph idx="1"/>
          </p:nvPr>
        </p:nvSpPr>
        <p:spPr/>
        <p:txBody>
          <a:bodyPr>
            <a:normAutofit/>
          </a:bodyPr>
          <a:lstStyle/>
          <a:p>
            <a:r>
              <a:rPr lang="en-IN" sz="2400" dirty="0"/>
              <a:t>Text Reader: Instantly reads signs, menus, and documents using natural OCR.</a:t>
            </a:r>
          </a:p>
          <a:p>
            <a:r>
              <a:rPr lang="en-IN" sz="2400" dirty="0"/>
              <a:t>Object Identifier: Recognizes over 300+ distinct items (e.g., "Laptop," "Coffee Cup").</a:t>
            </a:r>
          </a:p>
          <a:p>
            <a:r>
              <a:rPr lang="en-IN" sz="2400" dirty="0"/>
              <a:t>Scene Describer: Provides contextual awareness of the surrounding environment.</a:t>
            </a:r>
          </a:p>
          <a:p>
            <a:r>
              <a:rPr lang="en-IN" sz="2400" dirty="0"/>
              <a:t>Person Recognition: Biometrically identifies friends and family members.</a:t>
            </a:r>
          </a:p>
          <a:p>
            <a:endParaRPr lang="en-US" sz="2400" dirty="0"/>
          </a:p>
        </p:txBody>
      </p:sp>
    </p:spTree>
    <p:extLst>
      <p:ext uri="{BB962C8B-B14F-4D97-AF65-F5344CB8AC3E}">
        <p14:creationId xmlns:p14="http://schemas.microsoft.com/office/powerpoint/2010/main" val="2303295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pPr lvl="0"/>
            <a:r>
              <a:rPr lang="en-ZA" dirty="0"/>
              <a:t>Read Text Aloud</a:t>
            </a:r>
            <a:endParaRPr lang="en-US" dirty="0"/>
          </a:p>
        </p:txBody>
      </p:sp>
      <p:pic>
        <p:nvPicPr>
          <p:cNvPr id="5" name="Graphic 4">
            <a:extLst>
              <a:ext uri="{FF2B5EF4-FFF2-40B4-BE49-F238E27FC236}">
                <a16:creationId xmlns:a16="http://schemas.microsoft.com/office/drawing/2014/main" id="{DC1E62D7-C195-9632-D923-C2147900AE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66912" y="2205288"/>
            <a:ext cx="3153727" cy="3923054"/>
          </a:xfrm>
          <a:prstGeom prst="rect">
            <a:avLst/>
          </a:prstGeom>
        </p:spPr>
      </p:pic>
      <p:sp>
        <p:nvSpPr>
          <p:cNvPr id="7" name="Content Placeholder 6">
            <a:extLst>
              <a:ext uri="{FF2B5EF4-FFF2-40B4-BE49-F238E27FC236}">
                <a16:creationId xmlns:a16="http://schemas.microsoft.com/office/drawing/2014/main" id="{DD6EF1A2-BBBC-B987-FE2C-F46EA878D5D9}"/>
              </a:ext>
            </a:extLst>
          </p:cNvPr>
          <p:cNvSpPr>
            <a:spLocks noGrp="1"/>
          </p:cNvSpPr>
          <p:nvPr>
            <p:ph sz="half" idx="2"/>
          </p:nvPr>
        </p:nvSpPr>
        <p:spPr>
          <a:xfrm>
            <a:off x="6188417" y="1839911"/>
            <a:ext cx="5422392" cy="4789490"/>
          </a:xfrm>
        </p:spPr>
        <p:txBody>
          <a:bodyPr>
            <a:normAutofit/>
          </a:bodyPr>
          <a:lstStyle/>
          <a:p>
            <a:r>
              <a:rPr lang="en-US" dirty="0"/>
              <a:t>Read Text Aloud function is enabled by a simple gesture of “Double Tapping” on the screen. It detects any text within the frame and reads it aloud. </a:t>
            </a:r>
          </a:p>
          <a:p>
            <a:r>
              <a:rPr lang="en-US" dirty="0"/>
              <a:t>The user only has to point it towards text any text from an arms-length and the text is read aloud.</a:t>
            </a:r>
          </a:p>
          <a:p>
            <a:r>
              <a:rPr lang="en-US" dirty="0"/>
              <a:t>If no text is detected, the app informs the user that no text is in sight allowing the user to re-position the camera.</a:t>
            </a:r>
          </a:p>
          <a:p>
            <a:r>
              <a:rPr lang="en-US" dirty="0"/>
              <a:t>The Read Text Aloud function uses NLP to ensure that the text, no matter the orientation is read properly.</a:t>
            </a:r>
          </a:p>
          <a:p>
            <a:r>
              <a:rPr lang="en-US" dirty="0"/>
              <a:t>Future prospects of this function shall allow multi language reading support as well as translation of read text to any other language.</a:t>
            </a:r>
          </a:p>
        </p:txBody>
      </p:sp>
    </p:spTree>
    <p:extLst>
      <p:ext uri="{BB962C8B-B14F-4D97-AF65-F5344CB8AC3E}">
        <p14:creationId xmlns:p14="http://schemas.microsoft.com/office/powerpoint/2010/main" val="49760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21F69-61E6-87BD-1F1B-A99D45CDA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8C69D-00A2-6A10-9FBB-E3FD45BFA8B1}"/>
              </a:ext>
            </a:extLst>
          </p:cNvPr>
          <p:cNvSpPr>
            <a:spLocks noGrp="1"/>
          </p:cNvSpPr>
          <p:nvPr>
            <p:ph type="title"/>
          </p:nvPr>
        </p:nvSpPr>
        <p:spPr/>
        <p:txBody>
          <a:bodyPr/>
          <a:lstStyle/>
          <a:p>
            <a:pPr lvl="0"/>
            <a:r>
              <a:rPr lang="en-ZA" dirty="0"/>
              <a:t>Read Text Aloud</a:t>
            </a:r>
            <a:endParaRPr lang="en-US" dirty="0"/>
          </a:p>
        </p:txBody>
      </p:sp>
      <p:pic>
        <p:nvPicPr>
          <p:cNvPr id="5" name="Graphic 4">
            <a:extLst>
              <a:ext uri="{FF2B5EF4-FFF2-40B4-BE49-F238E27FC236}">
                <a16:creationId xmlns:a16="http://schemas.microsoft.com/office/drawing/2014/main" id="{E39C08E8-4C13-922B-416A-062891E443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66912" y="2205288"/>
            <a:ext cx="3153727" cy="3923054"/>
          </a:xfrm>
          <a:prstGeom prst="rect">
            <a:avLst/>
          </a:prstGeom>
        </p:spPr>
      </p:pic>
      <p:sp>
        <p:nvSpPr>
          <p:cNvPr id="7" name="Content Placeholder 6">
            <a:extLst>
              <a:ext uri="{FF2B5EF4-FFF2-40B4-BE49-F238E27FC236}">
                <a16:creationId xmlns:a16="http://schemas.microsoft.com/office/drawing/2014/main" id="{16435F1C-D30A-5C59-CDC4-3382FA173B17}"/>
              </a:ext>
            </a:extLst>
          </p:cNvPr>
          <p:cNvSpPr>
            <a:spLocks noGrp="1"/>
          </p:cNvSpPr>
          <p:nvPr>
            <p:ph sz="half" idx="2"/>
          </p:nvPr>
        </p:nvSpPr>
        <p:spPr>
          <a:xfrm>
            <a:off x="6188417" y="1839911"/>
            <a:ext cx="5422392" cy="4789490"/>
          </a:xfrm>
        </p:spPr>
        <p:txBody>
          <a:bodyPr>
            <a:normAutofit/>
          </a:bodyPr>
          <a:lstStyle/>
          <a:p>
            <a:r>
              <a:rPr lang="en-US" dirty="0"/>
              <a:t>If the text spans over multiple spaces or lines, the Read Aloud function understands the context of the sentence to properly structure the sentence without any pauses or gaps.</a:t>
            </a:r>
          </a:p>
          <a:p>
            <a:r>
              <a:rPr lang="en-US" dirty="0"/>
              <a:t>This function is easy to use by visually challenged due to the simple gestures of double tapping. The function can be used for reading books, reading text on digital devices, reading signposts or text in users’ surroundings.</a:t>
            </a:r>
          </a:p>
          <a:p>
            <a:r>
              <a:rPr lang="en-US" dirty="0"/>
              <a:t>Future prospects of this function involves allowing real time text reading. This would allow the user to point at rapidly changing text (for example text in a video) and reading it out in real time continuously.</a:t>
            </a:r>
          </a:p>
        </p:txBody>
      </p:sp>
    </p:spTree>
    <p:extLst>
      <p:ext uri="{BB962C8B-B14F-4D97-AF65-F5344CB8AC3E}">
        <p14:creationId xmlns:p14="http://schemas.microsoft.com/office/powerpoint/2010/main" val="4056495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31040-528F-6AF4-C5C3-C08B7E6C3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378ED-55BB-A457-0CD2-C549C2F7FA1E}"/>
              </a:ext>
            </a:extLst>
          </p:cNvPr>
          <p:cNvSpPr>
            <a:spLocks noGrp="1"/>
          </p:cNvSpPr>
          <p:nvPr>
            <p:ph type="title"/>
          </p:nvPr>
        </p:nvSpPr>
        <p:spPr/>
        <p:txBody>
          <a:bodyPr/>
          <a:lstStyle/>
          <a:p>
            <a:pPr lvl="0"/>
            <a:r>
              <a:rPr lang="en-US" dirty="0"/>
              <a:t>Scene Describer</a:t>
            </a:r>
          </a:p>
        </p:txBody>
      </p:sp>
      <p:pic>
        <p:nvPicPr>
          <p:cNvPr id="5" name="Graphic 4">
            <a:extLst>
              <a:ext uri="{FF2B5EF4-FFF2-40B4-BE49-F238E27FC236}">
                <a16:creationId xmlns:a16="http://schemas.microsoft.com/office/drawing/2014/main" id="{A5CF35A2-F9FF-2D90-BD6C-FC32FB1998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4392" y="2240280"/>
            <a:ext cx="4896531" cy="3550920"/>
          </a:xfrm>
          <a:prstGeom prst="rect">
            <a:avLst/>
          </a:prstGeom>
        </p:spPr>
      </p:pic>
      <p:sp>
        <p:nvSpPr>
          <p:cNvPr id="7" name="Content Placeholder 6">
            <a:extLst>
              <a:ext uri="{FF2B5EF4-FFF2-40B4-BE49-F238E27FC236}">
                <a16:creationId xmlns:a16="http://schemas.microsoft.com/office/drawing/2014/main" id="{C3270A3C-8A18-09CF-0052-5F905111E45B}"/>
              </a:ext>
            </a:extLst>
          </p:cNvPr>
          <p:cNvSpPr>
            <a:spLocks noGrp="1"/>
          </p:cNvSpPr>
          <p:nvPr>
            <p:ph sz="half" idx="2"/>
          </p:nvPr>
        </p:nvSpPr>
        <p:spPr>
          <a:xfrm>
            <a:off x="6188417" y="2228003"/>
            <a:ext cx="5422392" cy="4487429"/>
          </a:xfrm>
        </p:spPr>
        <p:txBody>
          <a:bodyPr>
            <a:normAutofit/>
          </a:bodyPr>
          <a:lstStyle/>
          <a:p>
            <a:r>
              <a:rPr lang="en-US" dirty="0"/>
              <a:t>Scene Describer function is enabled by a simple gesture of “Triple Tapping” on the screen. It detects and describes the scene.</a:t>
            </a:r>
          </a:p>
          <a:p>
            <a:r>
              <a:rPr lang="en-US" dirty="0"/>
              <a:t>Scenes such as room, building, open spaces, sky, mountains, roads are identified by the function.</a:t>
            </a:r>
          </a:p>
          <a:p>
            <a:r>
              <a:rPr lang="en-US" dirty="0"/>
              <a:t>The Scene Describer function is powered by Google’s </a:t>
            </a:r>
            <a:r>
              <a:rPr lang="en-US" dirty="0" err="1"/>
              <a:t>MLKit</a:t>
            </a:r>
            <a:r>
              <a:rPr lang="en-US" dirty="0"/>
              <a:t> which describes basic scenes. </a:t>
            </a:r>
          </a:p>
          <a:p>
            <a:r>
              <a:rPr lang="en-US" dirty="0"/>
              <a:t>Future upgrades in the scene describer aims to give scene descriptions with higher accuracies and better context of the scenes, along with better positional awareness of the user in the scene by explaining positions of objects in surroundings (example “on the right is a building”)</a:t>
            </a:r>
          </a:p>
        </p:txBody>
      </p:sp>
    </p:spTree>
    <p:extLst>
      <p:ext uri="{BB962C8B-B14F-4D97-AF65-F5344CB8AC3E}">
        <p14:creationId xmlns:p14="http://schemas.microsoft.com/office/powerpoint/2010/main" val="3293391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9257B-5C38-0B5E-84F6-577A7D273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98244-F87D-CE9F-696C-5D341843AE4D}"/>
              </a:ext>
            </a:extLst>
          </p:cNvPr>
          <p:cNvSpPr>
            <a:spLocks noGrp="1"/>
          </p:cNvSpPr>
          <p:nvPr>
            <p:ph type="title"/>
          </p:nvPr>
        </p:nvSpPr>
        <p:spPr/>
        <p:txBody>
          <a:bodyPr/>
          <a:lstStyle/>
          <a:p>
            <a:pPr lvl="0"/>
            <a:r>
              <a:rPr lang="en-US" dirty="0"/>
              <a:t>Scene Describer</a:t>
            </a:r>
          </a:p>
        </p:txBody>
      </p:sp>
      <p:pic>
        <p:nvPicPr>
          <p:cNvPr id="5" name="Graphic 4">
            <a:extLst>
              <a:ext uri="{FF2B5EF4-FFF2-40B4-BE49-F238E27FC236}">
                <a16:creationId xmlns:a16="http://schemas.microsoft.com/office/drawing/2014/main" id="{6728E798-34AB-D12F-D40D-F53982FF63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4392" y="2240280"/>
            <a:ext cx="4896531" cy="3550920"/>
          </a:xfrm>
          <a:prstGeom prst="rect">
            <a:avLst/>
          </a:prstGeom>
        </p:spPr>
      </p:pic>
      <p:sp>
        <p:nvSpPr>
          <p:cNvPr id="7" name="Content Placeholder 6">
            <a:extLst>
              <a:ext uri="{FF2B5EF4-FFF2-40B4-BE49-F238E27FC236}">
                <a16:creationId xmlns:a16="http://schemas.microsoft.com/office/drawing/2014/main" id="{5813A231-5380-0D2E-147E-FD577122A5F5}"/>
              </a:ext>
            </a:extLst>
          </p:cNvPr>
          <p:cNvSpPr>
            <a:spLocks noGrp="1"/>
          </p:cNvSpPr>
          <p:nvPr>
            <p:ph sz="half" idx="2"/>
          </p:nvPr>
        </p:nvSpPr>
        <p:spPr>
          <a:xfrm>
            <a:off x="6188417" y="2228003"/>
            <a:ext cx="5422392" cy="4487429"/>
          </a:xfrm>
        </p:spPr>
        <p:txBody>
          <a:bodyPr>
            <a:normAutofit/>
          </a:bodyPr>
          <a:lstStyle/>
          <a:p>
            <a:r>
              <a:rPr lang="en-US" dirty="0"/>
              <a:t>Future prospects involve using the scene layout for navigation purposes for the visually challenged. Using ISL-Midas, the app can help users navigate their way in the environment by using depth comparison.</a:t>
            </a:r>
          </a:p>
          <a:p>
            <a:r>
              <a:rPr lang="en-US" dirty="0"/>
              <a:t>The scene describer function is easy to use for visually challenged due to easy gesture and allows users to have better understanding of the surroundings and give it context.</a:t>
            </a:r>
          </a:p>
        </p:txBody>
      </p:sp>
    </p:spTree>
    <p:extLst>
      <p:ext uri="{BB962C8B-B14F-4D97-AF65-F5344CB8AC3E}">
        <p14:creationId xmlns:p14="http://schemas.microsoft.com/office/powerpoint/2010/main" val="1696238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C258E-FBDE-1466-754F-66CAA916F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FD328-7145-2865-D467-074FF3B9C1D0}"/>
              </a:ext>
            </a:extLst>
          </p:cNvPr>
          <p:cNvSpPr>
            <a:spLocks noGrp="1"/>
          </p:cNvSpPr>
          <p:nvPr>
            <p:ph type="title"/>
          </p:nvPr>
        </p:nvSpPr>
        <p:spPr/>
        <p:txBody>
          <a:bodyPr/>
          <a:lstStyle/>
          <a:p>
            <a:pPr lvl="0"/>
            <a:r>
              <a:rPr lang="en-US" dirty="0"/>
              <a:t>Person Identifier</a:t>
            </a:r>
          </a:p>
        </p:txBody>
      </p:sp>
      <p:sp>
        <p:nvSpPr>
          <p:cNvPr id="7" name="Content Placeholder 6">
            <a:extLst>
              <a:ext uri="{FF2B5EF4-FFF2-40B4-BE49-F238E27FC236}">
                <a16:creationId xmlns:a16="http://schemas.microsoft.com/office/drawing/2014/main" id="{2BDDCB43-2EAF-EB63-9742-040CDD694194}"/>
              </a:ext>
            </a:extLst>
          </p:cNvPr>
          <p:cNvSpPr>
            <a:spLocks noGrp="1"/>
          </p:cNvSpPr>
          <p:nvPr>
            <p:ph sz="half" idx="2"/>
          </p:nvPr>
        </p:nvSpPr>
        <p:spPr>
          <a:xfrm>
            <a:off x="6188417" y="2228003"/>
            <a:ext cx="5422392" cy="4487429"/>
          </a:xfrm>
        </p:spPr>
        <p:txBody>
          <a:bodyPr>
            <a:normAutofit/>
          </a:bodyPr>
          <a:lstStyle/>
          <a:p>
            <a:r>
              <a:rPr lang="en-US" dirty="0"/>
              <a:t>Scene Describer function is enabled by a simple gesture of “Two Finger Double Tap” on the screen. It detects and describes the scene.</a:t>
            </a:r>
          </a:p>
          <a:p>
            <a:r>
              <a:rPr lang="en-US" dirty="0"/>
              <a:t> The function detects a person. If the person is unknown, he/she is saved. If the person is known, the person is recognized and the user is informed that the person is in the frame. </a:t>
            </a:r>
          </a:p>
          <a:p>
            <a:r>
              <a:rPr lang="en-US" dirty="0"/>
              <a:t>The Person Identifier model is powered by Google </a:t>
            </a:r>
            <a:r>
              <a:rPr lang="en-US" dirty="0" err="1"/>
              <a:t>Mediapipe</a:t>
            </a:r>
            <a:r>
              <a:rPr lang="en-US" dirty="0"/>
              <a:t> </a:t>
            </a:r>
            <a:r>
              <a:rPr lang="en-US" dirty="0" err="1"/>
              <a:t>MLKit</a:t>
            </a:r>
            <a:r>
              <a:rPr lang="en-US" dirty="0"/>
              <a:t> which is used to detect faces.</a:t>
            </a:r>
          </a:p>
          <a:p>
            <a:r>
              <a:rPr lang="en-US" dirty="0"/>
              <a:t>Future upgrades in this function can allow users to detect multiple people in the frame. Additionally faces in any orientation or facing in another direction will be done to help visually challenged to recognize people.</a:t>
            </a:r>
          </a:p>
        </p:txBody>
      </p:sp>
      <p:pic>
        <p:nvPicPr>
          <p:cNvPr id="3" name="Graphic 2">
            <a:extLst>
              <a:ext uri="{FF2B5EF4-FFF2-40B4-BE49-F238E27FC236}">
                <a16:creationId xmlns:a16="http://schemas.microsoft.com/office/drawing/2014/main" id="{C43D67A0-A731-06EE-0C85-9FDBC8410C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7239" y="2161777"/>
            <a:ext cx="3552411" cy="3966565"/>
          </a:xfrm>
          <a:prstGeom prst="rect">
            <a:avLst/>
          </a:prstGeom>
        </p:spPr>
      </p:pic>
    </p:spTree>
    <p:extLst>
      <p:ext uri="{BB962C8B-B14F-4D97-AF65-F5344CB8AC3E}">
        <p14:creationId xmlns:p14="http://schemas.microsoft.com/office/powerpoint/2010/main" val="564358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BA76B-9B7B-AA98-D3E7-F8D7F08EC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A12CA-C2BC-C591-33BE-9D29712C84F8}"/>
              </a:ext>
            </a:extLst>
          </p:cNvPr>
          <p:cNvSpPr>
            <a:spLocks noGrp="1"/>
          </p:cNvSpPr>
          <p:nvPr>
            <p:ph type="title"/>
          </p:nvPr>
        </p:nvSpPr>
        <p:spPr/>
        <p:txBody>
          <a:bodyPr/>
          <a:lstStyle/>
          <a:p>
            <a:pPr lvl="0"/>
            <a:r>
              <a:rPr lang="en-US" dirty="0"/>
              <a:t>Person Identifier</a:t>
            </a:r>
          </a:p>
        </p:txBody>
      </p:sp>
      <p:sp>
        <p:nvSpPr>
          <p:cNvPr id="7" name="Content Placeholder 6">
            <a:extLst>
              <a:ext uri="{FF2B5EF4-FFF2-40B4-BE49-F238E27FC236}">
                <a16:creationId xmlns:a16="http://schemas.microsoft.com/office/drawing/2014/main" id="{11032004-DC92-BC2E-048F-63AEE28F83A9}"/>
              </a:ext>
            </a:extLst>
          </p:cNvPr>
          <p:cNvSpPr>
            <a:spLocks noGrp="1"/>
          </p:cNvSpPr>
          <p:nvPr>
            <p:ph sz="half" idx="2"/>
          </p:nvPr>
        </p:nvSpPr>
        <p:spPr>
          <a:xfrm>
            <a:off x="6188417" y="2228003"/>
            <a:ext cx="5422392" cy="4487429"/>
          </a:xfrm>
        </p:spPr>
        <p:txBody>
          <a:bodyPr>
            <a:normAutofit/>
          </a:bodyPr>
          <a:lstStyle/>
          <a:p>
            <a:r>
              <a:rPr lang="en-US" dirty="0"/>
              <a:t>The person identifier function is easy to use for the visually challenged because the 2 finger double tap simplifies the process. To add a person to the database of known people the user simply has to speak out the name of the person rather than type.</a:t>
            </a:r>
          </a:p>
          <a:p>
            <a:r>
              <a:rPr lang="en-US" dirty="0"/>
              <a:t>Braille digital typing which is supported by Android settings allows visually challenged to type out names instead of speaking as well.</a:t>
            </a:r>
          </a:p>
          <a:p>
            <a:endParaRPr lang="en-US" dirty="0"/>
          </a:p>
        </p:txBody>
      </p:sp>
      <p:pic>
        <p:nvPicPr>
          <p:cNvPr id="3" name="Graphic 2">
            <a:extLst>
              <a:ext uri="{FF2B5EF4-FFF2-40B4-BE49-F238E27FC236}">
                <a16:creationId xmlns:a16="http://schemas.microsoft.com/office/drawing/2014/main" id="{1EECE0E1-823A-7D0E-0A1A-D3C804D1B8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7239" y="2161777"/>
            <a:ext cx="3552411" cy="3966565"/>
          </a:xfrm>
          <a:prstGeom prst="rect">
            <a:avLst/>
          </a:prstGeom>
        </p:spPr>
      </p:pic>
    </p:spTree>
    <p:extLst>
      <p:ext uri="{BB962C8B-B14F-4D97-AF65-F5344CB8AC3E}">
        <p14:creationId xmlns:p14="http://schemas.microsoft.com/office/powerpoint/2010/main" val="3506048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90972-3578-DB5C-A0F5-132FD61C6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DC583-9C41-AFC5-611F-772E09F6D867}"/>
              </a:ext>
            </a:extLst>
          </p:cNvPr>
          <p:cNvSpPr>
            <a:spLocks noGrp="1"/>
          </p:cNvSpPr>
          <p:nvPr>
            <p:ph type="title"/>
          </p:nvPr>
        </p:nvSpPr>
        <p:spPr/>
        <p:txBody>
          <a:bodyPr/>
          <a:lstStyle/>
          <a:p>
            <a:pPr lvl="0"/>
            <a:r>
              <a:rPr lang="en-US" dirty="0"/>
              <a:t>Object Identifier</a:t>
            </a:r>
          </a:p>
        </p:txBody>
      </p:sp>
      <p:pic>
        <p:nvPicPr>
          <p:cNvPr id="7" name="Graphic 6">
            <a:extLst>
              <a:ext uri="{FF2B5EF4-FFF2-40B4-BE49-F238E27FC236}">
                <a16:creationId xmlns:a16="http://schemas.microsoft.com/office/drawing/2014/main" id="{35815CFA-7774-F697-5182-6D2671AE86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0964" y="2674374"/>
            <a:ext cx="4739106" cy="3393848"/>
          </a:xfrm>
          <a:prstGeom prst="rect">
            <a:avLst/>
          </a:prstGeom>
        </p:spPr>
      </p:pic>
      <p:sp>
        <p:nvSpPr>
          <p:cNvPr id="9" name="Content Placeholder 8">
            <a:extLst>
              <a:ext uri="{FF2B5EF4-FFF2-40B4-BE49-F238E27FC236}">
                <a16:creationId xmlns:a16="http://schemas.microsoft.com/office/drawing/2014/main" id="{48B8E601-1DA3-9614-961E-4FE14F763874}"/>
              </a:ext>
            </a:extLst>
          </p:cNvPr>
          <p:cNvSpPr>
            <a:spLocks noGrp="1"/>
          </p:cNvSpPr>
          <p:nvPr>
            <p:ph sz="half" idx="2"/>
          </p:nvPr>
        </p:nvSpPr>
        <p:spPr>
          <a:xfrm>
            <a:off x="6188417" y="1717750"/>
            <a:ext cx="5422392" cy="4653554"/>
          </a:xfrm>
        </p:spPr>
        <p:txBody>
          <a:bodyPr>
            <a:normAutofit/>
          </a:bodyPr>
          <a:lstStyle/>
          <a:p>
            <a:r>
              <a:rPr lang="en-US" dirty="0"/>
              <a:t>Object Identifier function is enabled by a simple gesture of “Two Finger Swipe” on the screen. It identifies the most prominent object in the frame.</a:t>
            </a:r>
          </a:p>
          <a:p>
            <a:r>
              <a:rPr lang="en-US" dirty="0"/>
              <a:t>The function identifies everyday objects, objects found typically at home, kitchen objects, fashion objects, vehicles, digital objects and others.</a:t>
            </a:r>
          </a:p>
          <a:p>
            <a:r>
              <a:rPr lang="en-US" dirty="0"/>
              <a:t>The Object Identifier function is powered by Google </a:t>
            </a:r>
            <a:r>
              <a:rPr lang="en-US" dirty="0" err="1"/>
              <a:t>Mediapipe</a:t>
            </a:r>
            <a:r>
              <a:rPr lang="en-US" dirty="0"/>
              <a:t> </a:t>
            </a:r>
            <a:r>
              <a:rPr lang="en-US" dirty="0" err="1"/>
              <a:t>MLKit</a:t>
            </a:r>
            <a:r>
              <a:rPr lang="en-US" dirty="0"/>
              <a:t> which identifies the object in the frame.</a:t>
            </a:r>
          </a:p>
          <a:p>
            <a:r>
              <a:rPr lang="en-US" dirty="0"/>
              <a:t>Currently the function is limited to being able to identify only one (most prominent) object in the frame. Future updates involves being able to identify multiple objects in the frame.</a:t>
            </a:r>
          </a:p>
        </p:txBody>
      </p:sp>
    </p:spTree>
    <p:extLst>
      <p:ext uri="{BB962C8B-B14F-4D97-AF65-F5344CB8AC3E}">
        <p14:creationId xmlns:p14="http://schemas.microsoft.com/office/powerpoint/2010/main" val="3953058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4DCC3-3F23-C6B3-8DC0-A4F319B723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95786-3101-31BC-70DE-BDC7D3CE6720}"/>
              </a:ext>
            </a:extLst>
          </p:cNvPr>
          <p:cNvSpPr>
            <a:spLocks noGrp="1"/>
          </p:cNvSpPr>
          <p:nvPr>
            <p:ph type="title"/>
          </p:nvPr>
        </p:nvSpPr>
        <p:spPr/>
        <p:txBody>
          <a:bodyPr/>
          <a:lstStyle/>
          <a:p>
            <a:pPr lvl="0"/>
            <a:r>
              <a:rPr lang="en-US" dirty="0"/>
              <a:t>Object Identifier</a:t>
            </a:r>
          </a:p>
        </p:txBody>
      </p:sp>
      <p:pic>
        <p:nvPicPr>
          <p:cNvPr id="7" name="Graphic 6">
            <a:extLst>
              <a:ext uri="{FF2B5EF4-FFF2-40B4-BE49-F238E27FC236}">
                <a16:creationId xmlns:a16="http://schemas.microsoft.com/office/drawing/2014/main" id="{36F75B51-D2BD-9011-2FA7-72D8B5F7F5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0964" y="2674374"/>
            <a:ext cx="4739106" cy="3393848"/>
          </a:xfrm>
          <a:prstGeom prst="rect">
            <a:avLst/>
          </a:prstGeom>
        </p:spPr>
      </p:pic>
      <p:sp>
        <p:nvSpPr>
          <p:cNvPr id="9" name="Content Placeholder 8">
            <a:extLst>
              <a:ext uri="{FF2B5EF4-FFF2-40B4-BE49-F238E27FC236}">
                <a16:creationId xmlns:a16="http://schemas.microsoft.com/office/drawing/2014/main" id="{57026B11-CC1D-97EE-ED48-339EA26D7772}"/>
              </a:ext>
            </a:extLst>
          </p:cNvPr>
          <p:cNvSpPr>
            <a:spLocks noGrp="1"/>
          </p:cNvSpPr>
          <p:nvPr>
            <p:ph sz="half" idx="2"/>
          </p:nvPr>
        </p:nvSpPr>
        <p:spPr>
          <a:xfrm>
            <a:off x="6188417" y="1717750"/>
            <a:ext cx="5422392" cy="4653554"/>
          </a:xfrm>
        </p:spPr>
        <p:txBody>
          <a:bodyPr>
            <a:normAutofit/>
          </a:bodyPr>
          <a:lstStyle/>
          <a:p>
            <a:r>
              <a:rPr lang="en-US" dirty="0"/>
              <a:t>Future updates involve “Object finder” as well. The user would prompt the app by saying “Locate the &lt;object&gt;” The app would find the object in the scene and respond with the location “&lt;Object&gt; is on the table on the right”</a:t>
            </a:r>
          </a:p>
          <a:p>
            <a:r>
              <a:rPr lang="en-US" dirty="0"/>
              <a:t>This function is easy to use for visually challenged due to the simple gesture of 2 finger swiping and identifying objects. Being able to identify an object without touching is crucial because hot objects such as those in a kitchen can cause harm if hot. For such reasons this function is crucial.</a:t>
            </a:r>
          </a:p>
        </p:txBody>
      </p:sp>
    </p:spTree>
    <p:extLst>
      <p:ext uri="{BB962C8B-B14F-4D97-AF65-F5344CB8AC3E}">
        <p14:creationId xmlns:p14="http://schemas.microsoft.com/office/powerpoint/2010/main" val="56023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900862-86A6-FD1A-37B8-C87CD46A964F}"/>
              </a:ext>
            </a:extLst>
          </p:cNvPr>
          <p:cNvSpPr>
            <a:spLocks noGrp="1"/>
          </p:cNvSpPr>
          <p:nvPr>
            <p:ph type="title"/>
          </p:nvPr>
        </p:nvSpPr>
        <p:spPr/>
        <p:txBody>
          <a:bodyPr/>
          <a:lstStyle/>
          <a:p>
            <a:r>
              <a:rPr lang="en-US" dirty="0"/>
              <a:t>Lumio as a Product</a:t>
            </a:r>
          </a:p>
        </p:txBody>
      </p:sp>
      <p:sp>
        <p:nvSpPr>
          <p:cNvPr id="6" name="Content Placeholder 5">
            <a:extLst>
              <a:ext uri="{FF2B5EF4-FFF2-40B4-BE49-F238E27FC236}">
                <a16:creationId xmlns:a16="http://schemas.microsoft.com/office/drawing/2014/main" id="{AE47DD00-1ED8-0C76-62D5-89C1D441DBB2}"/>
              </a:ext>
            </a:extLst>
          </p:cNvPr>
          <p:cNvSpPr>
            <a:spLocks noGrp="1"/>
          </p:cNvSpPr>
          <p:nvPr>
            <p:ph idx="1"/>
          </p:nvPr>
        </p:nvSpPr>
        <p:spPr/>
        <p:txBody>
          <a:bodyPr/>
          <a:lstStyle/>
          <a:p>
            <a:r>
              <a:rPr lang="en-US" dirty="0"/>
              <a:t>Lumio is not only an app, but also product-ready.</a:t>
            </a:r>
          </a:p>
          <a:p>
            <a:r>
              <a:rPr lang="en-US" dirty="0"/>
              <a:t>Connecting a USB mini-webcam to the smartphone and mounting the webcam to a pair of goggles, converts this app into a product. </a:t>
            </a:r>
          </a:p>
          <a:p>
            <a:r>
              <a:rPr lang="en-US" dirty="0"/>
              <a:t>The Lumio app is simple and allows immediate plug and play functionality.</a:t>
            </a:r>
          </a:p>
          <a:p>
            <a:r>
              <a:rPr lang="en-US" dirty="0"/>
              <a:t>This ensures that anyone can use Lumio.</a:t>
            </a:r>
          </a:p>
          <a:p>
            <a:r>
              <a:rPr lang="en-US" dirty="0"/>
              <a:t>Future aspects of Lumio shall involve using smart-glasses that have built-in cameras and have it connected to the smartphone wirelessly to use Lumio.</a:t>
            </a:r>
          </a:p>
          <a:p>
            <a:r>
              <a:rPr lang="en-US" dirty="0"/>
              <a:t>Cost effectiveness of Lumio: only cost of Lumio is the camera with minimum resolution of 1080p (approx. price of Rs. 2000) for optimal text to speech capabilities. Processing runs on any smartphones with Android (API 24+).</a:t>
            </a:r>
          </a:p>
          <a:p>
            <a:r>
              <a:rPr lang="en-US" dirty="0"/>
              <a:t>If users don’t have smartphones, processing devices can be made to run on raspberry pi.</a:t>
            </a:r>
          </a:p>
        </p:txBody>
      </p:sp>
    </p:spTree>
    <p:extLst>
      <p:ext uri="{BB962C8B-B14F-4D97-AF65-F5344CB8AC3E}">
        <p14:creationId xmlns:p14="http://schemas.microsoft.com/office/powerpoint/2010/main" val="989731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945E91-90BC-7E83-2C09-48C99B0564DF}"/>
              </a:ext>
            </a:extLst>
          </p:cNvPr>
          <p:cNvSpPr>
            <a:spLocks noGrp="1"/>
          </p:cNvSpPr>
          <p:nvPr>
            <p:ph type="title"/>
          </p:nvPr>
        </p:nvSpPr>
        <p:spPr/>
        <p:txBody>
          <a:bodyPr/>
          <a:lstStyle/>
          <a:p>
            <a:r>
              <a:rPr lang="en-US" dirty="0"/>
              <a:t>Future Features</a:t>
            </a:r>
          </a:p>
        </p:txBody>
      </p:sp>
      <p:sp>
        <p:nvSpPr>
          <p:cNvPr id="8" name="Text Placeholder 7">
            <a:extLst>
              <a:ext uri="{FF2B5EF4-FFF2-40B4-BE49-F238E27FC236}">
                <a16:creationId xmlns:a16="http://schemas.microsoft.com/office/drawing/2014/main" id="{72E91C9E-ED32-A666-835E-1B16C62C186E}"/>
              </a:ext>
            </a:extLst>
          </p:cNvPr>
          <p:cNvSpPr>
            <a:spLocks noGrp="1"/>
          </p:cNvSpPr>
          <p:nvPr>
            <p:ph type="body" sz="quarter" idx="3"/>
          </p:nvPr>
        </p:nvSpPr>
        <p:spPr>
          <a:xfrm>
            <a:off x="1008926" y="2250892"/>
            <a:ext cx="10038519" cy="553373"/>
          </a:xfrm>
        </p:spPr>
        <p:txBody>
          <a:bodyPr/>
          <a:lstStyle/>
          <a:p>
            <a:r>
              <a:rPr lang="en-US" dirty="0"/>
              <a:t>Speech Assistant in-place of Gestures</a:t>
            </a:r>
          </a:p>
        </p:txBody>
      </p:sp>
      <p:sp>
        <p:nvSpPr>
          <p:cNvPr id="9" name="Content Placeholder 8">
            <a:extLst>
              <a:ext uri="{FF2B5EF4-FFF2-40B4-BE49-F238E27FC236}">
                <a16:creationId xmlns:a16="http://schemas.microsoft.com/office/drawing/2014/main" id="{17246A18-4781-D41A-9195-5A604AC87D01}"/>
              </a:ext>
            </a:extLst>
          </p:cNvPr>
          <p:cNvSpPr>
            <a:spLocks noGrp="1"/>
          </p:cNvSpPr>
          <p:nvPr>
            <p:ph sz="quarter" idx="4"/>
          </p:nvPr>
        </p:nvSpPr>
        <p:spPr>
          <a:xfrm>
            <a:off x="702900" y="2926052"/>
            <a:ext cx="10642414" cy="3582903"/>
          </a:xfrm>
        </p:spPr>
        <p:txBody>
          <a:bodyPr>
            <a:normAutofit/>
          </a:bodyPr>
          <a:lstStyle/>
          <a:p>
            <a:r>
              <a:rPr lang="en-US" dirty="0"/>
              <a:t>Currently for ease of access, the user requires to do gestures such as “double tap”, “triple tap”, “2 finger swipe” to call a function.</a:t>
            </a:r>
          </a:p>
          <a:p>
            <a:r>
              <a:rPr lang="en-US" dirty="0"/>
              <a:t>Later on, this can be replaced by with a speech assistant which allows the user to have a real-time communication with the assistant to call upon a function. </a:t>
            </a:r>
          </a:p>
          <a:p>
            <a:r>
              <a:rPr lang="en-US" dirty="0"/>
              <a:t>Additional features can be integrated with the assistant such as remembering notes from text, remembering where objects are, remembering scenes and locations and identifying people and their relation with the user.</a:t>
            </a:r>
          </a:p>
        </p:txBody>
      </p:sp>
    </p:spTree>
    <p:extLst>
      <p:ext uri="{BB962C8B-B14F-4D97-AF65-F5344CB8AC3E}">
        <p14:creationId xmlns:p14="http://schemas.microsoft.com/office/powerpoint/2010/main" val="1925333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alphaModFix amt="50000"/>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8" name="Subtitle 7">
            <a:extLst>
              <a:ext uri="{FF2B5EF4-FFF2-40B4-BE49-F238E27FC236}">
                <a16:creationId xmlns:a16="http://schemas.microsoft.com/office/drawing/2014/main" id="{10C5037E-8272-54DA-E9A3-94DB2ADE99FC}"/>
              </a:ext>
            </a:extLst>
          </p:cNvPr>
          <p:cNvSpPr>
            <a:spLocks noGrp="1"/>
          </p:cNvSpPr>
          <p:nvPr>
            <p:ph type="subTitle" idx="1"/>
          </p:nvPr>
        </p:nvSpPr>
        <p:spPr>
          <a:xfrm>
            <a:off x="4857983" y="253479"/>
            <a:ext cx="176133" cy="590321"/>
          </a:xfrm>
        </p:spPr>
        <p:txBody>
          <a:bodyPr/>
          <a:lstStyle/>
          <a:p>
            <a:r>
              <a:rPr lang="en-US" dirty="0"/>
              <a:t>.</a:t>
            </a:r>
          </a:p>
        </p:txBody>
      </p:sp>
    </p:spTree>
    <p:extLst>
      <p:ext uri="{BB962C8B-B14F-4D97-AF65-F5344CB8AC3E}">
        <p14:creationId xmlns:p14="http://schemas.microsoft.com/office/powerpoint/2010/main" val="3501347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9853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5" name="Graphic 1144">
            <a:extLst>
              <a:ext uri="{FF2B5EF4-FFF2-40B4-BE49-F238E27FC236}">
                <a16:creationId xmlns:a16="http://schemas.microsoft.com/office/drawing/2014/main" id="{09A2B1FD-7653-2AF6-9105-7474BD3A2B9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56536" y="3727577"/>
            <a:ext cx="1855951" cy="1345919"/>
          </a:xfrm>
          <a:prstGeom prst="rect">
            <a:avLst/>
          </a:prstGeom>
        </p:spPr>
      </p:pic>
      <p:pic>
        <p:nvPicPr>
          <p:cNvPr id="1147" name="Graphic 1146">
            <a:extLst>
              <a:ext uri="{FF2B5EF4-FFF2-40B4-BE49-F238E27FC236}">
                <a16:creationId xmlns:a16="http://schemas.microsoft.com/office/drawing/2014/main" id="{5C9D7275-24DC-AA0F-DDB5-357A46C057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05035" y="3755923"/>
            <a:ext cx="1718323" cy="1230554"/>
          </a:xfrm>
          <a:prstGeom prst="rect">
            <a:avLst/>
          </a:prstGeom>
        </p:spPr>
      </p:pic>
      <p:pic>
        <p:nvPicPr>
          <p:cNvPr id="1149" name="Graphic 1148">
            <a:extLst>
              <a:ext uri="{FF2B5EF4-FFF2-40B4-BE49-F238E27FC236}">
                <a16:creationId xmlns:a16="http://schemas.microsoft.com/office/drawing/2014/main" id="{1E31014A-87BA-D63F-7A04-EBA4BB98720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4693" y="3700227"/>
            <a:ext cx="1171465" cy="1457235"/>
          </a:xfrm>
          <a:prstGeom prst="rect">
            <a:avLst/>
          </a:prstGeom>
        </p:spPr>
      </p:pic>
      <p:pic>
        <p:nvPicPr>
          <p:cNvPr id="1151" name="Graphic 1150">
            <a:extLst>
              <a:ext uri="{FF2B5EF4-FFF2-40B4-BE49-F238E27FC236}">
                <a16:creationId xmlns:a16="http://schemas.microsoft.com/office/drawing/2014/main" id="{BB4AF6E3-8549-961F-8BC9-5DA0FA9CC40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50999" y="3720120"/>
            <a:ext cx="1232578" cy="1376277"/>
          </a:xfrm>
          <a:prstGeom prst="rect">
            <a:avLst/>
          </a:prstGeom>
        </p:spPr>
      </p:pic>
      <p:sp>
        <p:nvSpPr>
          <p:cNvPr id="1156" name="Title 1155">
            <a:extLst>
              <a:ext uri="{FF2B5EF4-FFF2-40B4-BE49-F238E27FC236}">
                <a16:creationId xmlns:a16="http://schemas.microsoft.com/office/drawing/2014/main" id="{30541A05-2531-9D0C-280D-6C76065C332A}"/>
              </a:ext>
            </a:extLst>
          </p:cNvPr>
          <p:cNvSpPr>
            <a:spLocks noGrp="1"/>
          </p:cNvSpPr>
          <p:nvPr>
            <p:ph type="title"/>
          </p:nvPr>
        </p:nvSpPr>
        <p:spPr/>
        <p:txBody>
          <a:bodyPr/>
          <a:lstStyle/>
          <a:p>
            <a:r>
              <a:rPr lang="en-US" dirty="0" err="1"/>
              <a:t>Logos.svg</a:t>
            </a:r>
            <a:endParaRPr lang="en-US" dirty="0"/>
          </a:p>
        </p:txBody>
      </p:sp>
    </p:spTree>
    <p:extLst>
      <p:ext uri="{BB962C8B-B14F-4D97-AF65-F5344CB8AC3E}">
        <p14:creationId xmlns:p14="http://schemas.microsoft.com/office/powerpoint/2010/main" val="408222204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design</Template>
  <TotalTime>530</TotalTime>
  <Words>1528</Words>
  <Application>Microsoft Office PowerPoint</Application>
  <PresentationFormat>Widescreen</PresentationFormat>
  <Paragraphs>83</Paragraphs>
  <Slides>18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Calibri</vt:lpstr>
      <vt:lpstr>Gill Sans MT</vt:lpstr>
      <vt:lpstr>Wingdings 2</vt:lpstr>
      <vt:lpstr>Custom</vt:lpstr>
      <vt:lpstr> Lumio</vt:lpstr>
      <vt:lpstr>Objective of Lumio</vt:lpstr>
      <vt:lpstr>What is Lumio</vt:lpstr>
      <vt:lpstr>Proposed Functions</vt:lpstr>
      <vt:lpstr>The 4 Pillars of Lumio:</vt:lpstr>
      <vt:lpstr>Read Text Aloud</vt:lpstr>
      <vt:lpstr>Read Text Aloud</vt:lpstr>
      <vt:lpstr>Scene Describer</vt:lpstr>
      <vt:lpstr>Scene Describer</vt:lpstr>
      <vt:lpstr>Person Identifier</vt:lpstr>
      <vt:lpstr>Person Identifier</vt:lpstr>
      <vt:lpstr>Object Identifier</vt:lpstr>
      <vt:lpstr>Object Identifier</vt:lpstr>
      <vt:lpstr>Lumio as a Product</vt:lpstr>
      <vt:lpstr>Future Features</vt:lpstr>
      <vt:lpstr>Thank You</vt:lpstr>
      <vt:lpstr>PowerPoint Presentation</vt:lpstr>
      <vt:lpstr>Logos.svg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Parate</dc:creator>
  <cp:lastModifiedBy>Sai Parate</cp:lastModifiedBy>
  <cp:revision>3</cp:revision>
  <dcterms:created xsi:type="dcterms:W3CDTF">2025-12-28T05:04:42Z</dcterms:created>
  <dcterms:modified xsi:type="dcterms:W3CDTF">2025-12-29T13:31:25Z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